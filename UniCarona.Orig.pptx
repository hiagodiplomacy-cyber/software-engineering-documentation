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Barlow" pitchFamily="2" charset="0"/>
      <p:regular r:id="rId21"/>
    </p:embeddedFont>
    <p:embeddedFont>
      <p:font typeface="Barlow Bold" pitchFamily="2" charset="0"/>
      <p:regular r:id="rId22"/>
    </p:embeddedFont>
    <p:embeddedFont>
      <p:font typeface="Barlow Semi-Bold" pitchFamily="2" charset="0"/>
      <p:regular r:id="rId23"/>
    </p:embeddedFont>
    <p:embeddedFont>
      <p:font typeface="Open Sans Bold" panose="020B0806030504020204" pitchFamily="34" charset="0"/>
      <p:regular r:id="rId24"/>
    </p:embeddedFont>
    <p:embeddedFont>
      <p:font typeface="Open Sans Bold Italics" panose="020B0806030504020204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font" Target="fonts/font1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font" Target="fonts/font5.fntdata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4.fntdata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3.fntdata" /><Relationship Id="rId28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2.fntdata" /><Relationship Id="rId27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82716" y="1702999"/>
            <a:ext cx="7922568" cy="2331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39"/>
              </a:lnSpc>
            </a:pPr>
            <a:r>
              <a:rPr lang="en-US" sz="13599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Barlow Bold"/>
                <a:ea typeface="Barlow Bold"/>
                <a:cs typeface="Barlow Bold"/>
                <a:sym typeface="Barlow Bold"/>
              </a:rPr>
              <a:t>UniCarona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03685" y="4795082"/>
            <a:ext cx="15280630" cy="1302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sz="7599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Barlow Semi-Bold"/>
                <a:ea typeface="Barlow Semi-Bold"/>
                <a:cs typeface="Barlow Semi-Bold"/>
                <a:sym typeface="Barlow Semi-Bold"/>
              </a:rPr>
              <a:t>Aplicativo de caronas Universitárias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39863" y="9182100"/>
            <a:ext cx="15008275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spc="13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Barlow"/>
                <a:ea typeface="Barlow"/>
                <a:cs typeface="Barlow"/>
                <a:sym typeface="Barlow"/>
              </a:rPr>
              <a:t>Hiago Rocha. Carlos Daniel. Fabrício M. Sofia Rodrigues. Gabriel Lana. Rafaela 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563523"/>
            <a:ext cx="12394091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Contexto e Problema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3128197"/>
            <a:ext cx="12394091" cy="230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Custos altos com combustível e transportes individuais.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Dificuldade de transporte entre casa e faculdade.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Pouca oferta de transporte publico em horário flexíveis.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Falta de conexão entre alunos com rota semelhantes.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4260" y="6101548"/>
            <a:ext cx="4153534" cy="93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Problema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7742657"/>
            <a:ext cx="12748817" cy="172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Reduzir o tempo e custo de deslocamento.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Incentivar o trasnporte colaborativo.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Promover sustentabilidade e a interação entre estudantes.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30901"/>
            <a:ext cx="14877173" cy="1127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Solução proposta e funcionalidades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2286629"/>
            <a:ext cx="3379573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Solução: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3963035"/>
            <a:ext cx="1828800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Criação do UniCarona. Um aplicativo que conecta motoristas e passageiros universitários ambos sendo da mesma faculdade.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5308" y="5574684"/>
            <a:ext cx="892869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Principais funcionalidades: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5308" y="6918979"/>
            <a:ext cx="7523171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Cadastro de usuários (motorista/passageiro.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Busca e oferta de carona.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Chat interno e notificsções.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Avaliações e histórico de viajens.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892381" y="147276"/>
            <a:ext cx="15522527" cy="2095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Requisitos do sistema</a:t>
            </a:r>
          </a:p>
          <a:p>
            <a:pPr algn="ctr">
              <a:lnSpc>
                <a:spcPts val="7560"/>
              </a:lnSpc>
            </a:pPr>
            <a:r>
              <a:rPr lang="en-US" sz="5400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(breve resulmo)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4219892"/>
            <a:ext cx="17888001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Cadastro e login de usuários (dados presentes em seus documentos a aplicativos da universidade.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Registro de veiculos e rotas.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Reserva e confirmação de carona.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Avaliação de motorista (ambos fazem uma avaliação mútua)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3279760"/>
            <a:ext cx="5404396" cy="66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Requisitos  principais: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0076" y="8394514"/>
            <a:ext cx="14676537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Interface simples e responsiva.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Tempo de resposta extremamente rápido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Sistema seguro e disponível 24 horas, compatível com android e IOS.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7467283"/>
            <a:ext cx="6482209" cy="66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Requisitos não funcionais: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-123825"/>
            <a:ext cx="18288000" cy="1127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Regra de negócios e atores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3047" y="1878618"/>
            <a:ext cx="5536555" cy="79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Regras de negócios: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3128197"/>
            <a:ext cx="18288000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Apenas e-mails institucionais são aceitos como também numero de matricúla.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Todo motorista que se cadastrar precisa ter uma CNH válida e com permissão para exercer atividade remunerada.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Avaliações a cancelamentos influenciam na reputação tanto do motorista como do passageiro.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3047" y="6380752"/>
            <a:ext cx="6055001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Atores principais: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3047" y="7616462"/>
            <a:ext cx="6138416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Motorista.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Passageiro.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Administrador do sistema.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784" y="-99048"/>
            <a:ext cx="9803457" cy="1127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Principais casos de uso: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8784" y="1706306"/>
            <a:ext cx="7911216" cy="803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Casos de uso: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3132059"/>
            <a:ext cx="15215527" cy="2380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Cadastrar -se: criar conta e login no aplicativo.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Oferecer carona: motorista registra rota e vagas.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Confirmar reserva: ambos validam a viagem.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Avaliar usuário feedback: após a carona por motorista e passageiro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784" y="6326391"/>
            <a:ext cx="8293716" cy="803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Fluxo básico: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0297" y="7616165"/>
            <a:ext cx="17707406" cy="580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Usuário cadastra-se &gt;busca oferece/carona&gt; confirma&gt; realiza&gt; viagem&gt; avalia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4468" y="-99081"/>
            <a:ext cx="9886157" cy="1127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Ferramentas utilizadas: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4468" y="1564962"/>
            <a:ext cx="9367062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Desenvolvimento e modelagem: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4468" y="3124521"/>
            <a:ext cx="11014109" cy="1780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EstarUML: criação dos diagramas UML.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Figma: Prototipagem e design da interface.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Visual Studio Code: ambiente de desenvolvimento.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4468" y="5667161"/>
            <a:ext cx="9367062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 b="1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Organização e salvamento: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4468" y="7226720"/>
            <a:ext cx="13981576" cy="1780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Trello:  controle de tarefas e cronograma.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Google drive: armazenamento e compartilhamento dos arquivos.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Canva: montagem dos slides e apresentação.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6868" y="53319"/>
            <a:ext cx="10161984" cy="1127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Pontos fortes do projeto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6868" y="1717362"/>
            <a:ext cx="9367062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Clareza na modelagem (UML):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3276921"/>
            <a:ext cx="17778972" cy="118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Diagrama bem estruturados facilitaram o entendimento do sistema.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Representação visual dos processos tornou o desenvolvimento mais organizado.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6868" y="5219453"/>
            <a:ext cx="9367062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Identifação dos atores: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6779012"/>
            <a:ext cx="17778972" cy="118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Definição clara de papéis e interação bem delimitadas evitando conflitos e sobreposições.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9268" y="1869762"/>
            <a:ext cx="9367062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 b="1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Aprendizados: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2400" y="3429321"/>
            <a:ext cx="17778972" cy="1780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Aplicação prática dos conceitos de engenharia de software e UML.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Planejamento e trabalho em equipe fortalecidos.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Diagramação facilita e muito a visualização dos processos e interação.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68" y="205719"/>
            <a:ext cx="9921711" cy="1127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Comclusão e resultados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68" y="5971961"/>
            <a:ext cx="9367062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 b="1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Comclusão: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9268" y="7531520"/>
            <a:ext cx="17778972" cy="1780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O Unicarona demonstra como a tecnologia pode tornar o transporte do universitário mais econômico  e sustentável e colaborativo tanto em ambientes de universidades nacionais como internacionais.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52000" y="3383946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rnd">
            <a:noFill/>
            <a:prstDash val="sysDot"/>
            <a:round/>
          </a:ln>
        </p:spPr>
      </p:sp>
      <p:sp>
        <p:nvSpPr>
          <p:cNvPr id="3" name="TextBox 3"/>
          <p:cNvSpPr txBox="1"/>
          <p:nvPr/>
        </p:nvSpPr>
        <p:spPr>
          <a:xfrm>
            <a:off x="231264" y="3460049"/>
            <a:ext cx="11318688" cy="3195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Apresentação dos diagramas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18378"/>
            <a:ext cx="8250463" cy="8539510"/>
          </a:xfrm>
          <a:custGeom>
            <a:avLst/>
            <a:gdLst/>
            <a:ahLst/>
            <a:cxnLst/>
            <a:rect l="l" t="t" r="r" b="b"/>
            <a:pathLst>
              <a:path w="8250463" h="8539510">
                <a:moveTo>
                  <a:pt x="0" y="0"/>
                </a:moveTo>
                <a:lnTo>
                  <a:pt x="8250463" y="0"/>
                </a:lnTo>
                <a:lnTo>
                  <a:pt x="8250463" y="8539510"/>
                </a:lnTo>
                <a:lnTo>
                  <a:pt x="0" y="8539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54" r="-19178" b="-631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50463" y="4776921"/>
            <a:ext cx="10037537" cy="5510079"/>
          </a:xfrm>
          <a:custGeom>
            <a:avLst/>
            <a:gdLst/>
            <a:ahLst/>
            <a:cxnLst/>
            <a:rect l="l" t="t" r="r" b="b"/>
            <a:pathLst>
              <a:path w="10037537" h="5510079">
                <a:moveTo>
                  <a:pt x="0" y="0"/>
                </a:moveTo>
                <a:lnTo>
                  <a:pt x="10037537" y="0"/>
                </a:lnTo>
                <a:lnTo>
                  <a:pt x="10037537" y="5510079"/>
                </a:lnTo>
                <a:lnTo>
                  <a:pt x="0" y="55100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4" t="-159562" r="-13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81100" y="53319"/>
            <a:ext cx="15491189" cy="1127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240"/>
              </a:lnSpc>
            </a:pPr>
            <a:r>
              <a:rPr lang="en-US" sz="6600" b="1" i="1">
                <a:gradFill>
                  <a:gsLst>
                    <a:gs pos="0">
                      <a:srgbClr val="E7AA51">
                        <a:alpha val="100000"/>
                      </a:srgbClr>
                    </a:gs>
                    <a:gs pos="25000">
                      <a:srgbClr val="FFE499">
                        <a:alpha val="100000"/>
                      </a:srgbClr>
                    </a:gs>
                    <a:gs pos="50000">
                      <a:srgbClr val="8D5A1B">
                        <a:alpha val="100000"/>
                      </a:srgbClr>
                    </a:gs>
                    <a:gs pos="75000">
                      <a:srgbClr val="E7AA51">
                        <a:alpha val="100000"/>
                      </a:srgbClr>
                    </a:gs>
                    <a:gs pos="100000">
                      <a:srgbClr val="AC7031">
                        <a:alpha val="100000"/>
                      </a:srgbClr>
                    </a:gs>
                  </a:gsLst>
                  <a:lin ang="540000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DIAGRAMA DE SEQUENCIA - MOTORISTA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440986"/>
            <a:ext cx="8649279" cy="8846014"/>
          </a:xfrm>
          <a:custGeom>
            <a:avLst/>
            <a:gdLst/>
            <a:ahLst/>
            <a:cxnLst/>
            <a:rect l="l" t="t" r="r" b="b"/>
            <a:pathLst>
              <a:path w="8649279" h="8846014">
                <a:moveTo>
                  <a:pt x="0" y="0"/>
                </a:moveTo>
                <a:lnTo>
                  <a:pt x="8649279" y="0"/>
                </a:lnTo>
                <a:lnTo>
                  <a:pt x="8649279" y="8846014"/>
                </a:lnTo>
                <a:lnTo>
                  <a:pt x="0" y="8846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16" r="-24542" b="-5865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49279" y="5633738"/>
            <a:ext cx="9638721" cy="4653262"/>
          </a:xfrm>
          <a:custGeom>
            <a:avLst/>
            <a:gdLst/>
            <a:ahLst/>
            <a:cxnLst/>
            <a:rect l="l" t="t" r="r" b="b"/>
            <a:pathLst>
              <a:path w="9638721" h="4653262">
                <a:moveTo>
                  <a:pt x="0" y="0"/>
                </a:moveTo>
                <a:lnTo>
                  <a:pt x="9638721" y="0"/>
                </a:lnTo>
                <a:lnTo>
                  <a:pt x="9638721" y="4653262"/>
                </a:lnTo>
                <a:lnTo>
                  <a:pt x="0" y="4653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" t="-168884" b="-179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78669" y="-99081"/>
            <a:ext cx="15741221" cy="1127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240"/>
              </a:lnSpc>
            </a:pPr>
            <a:r>
              <a:rPr lang="en-US" sz="6600" b="1" i="1">
                <a:gradFill>
                  <a:gsLst>
                    <a:gs pos="0">
                      <a:srgbClr val="E7AA51">
                        <a:alpha val="100000"/>
                      </a:srgbClr>
                    </a:gs>
                    <a:gs pos="25000">
                      <a:srgbClr val="FFE499">
                        <a:alpha val="100000"/>
                      </a:srgbClr>
                    </a:gs>
                    <a:gs pos="50000">
                      <a:srgbClr val="8D5A1B">
                        <a:alpha val="100000"/>
                      </a:srgbClr>
                    </a:gs>
                    <a:gs pos="75000">
                      <a:srgbClr val="E7AA51">
                        <a:alpha val="100000"/>
                      </a:srgbClr>
                    </a:gs>
                    <a:gs pos="100000">
                      <a:srgbClr val="AC7031">
                        <a:alpha val="100000"/>
                      </a:srgbClr>
                    </a:gs>
                  </a:gsLst>
                  <a:lin ang="540000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DIAGRAMA DE SEQUENCIA - PASSAGEIRO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54486" y="1318594"/>
            <a:ext cx="15526729" cy="8176771"/>
          </a:xfrm>
          <a:custGeom>
            <a:avLst/>
            <a:gdLst/>
            <a:ahLst/>
            <a:cxnLst/>
            <a:rect l="l" t="t" r="r" b="b"/>
            <a:pathLst>
              <a:path w="15526729" h="8176771">
                <a:moveTo>
                  <a:pt x="0" y="0"/>
                </a:moveTo>
                <a:lnTo>
                  <a:pt x="15526729" y="0"/>
                </a:lnTo>
                <a:lnTo>
                  <a:pt x="15526729" y="8176770"/>
                </a:lnTo>
                <a:lnTo>
                  <a:pt x="0" y="8176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489" b="-3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08972" y="-99081"/>
            <a:ext cx="13217757" cy="1127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240"/>
              </a:lnSpc>
            </a:pPr>
            <a:r>
              <a:rPr lang="en-US" sz="6600" b="1" i="1">
                <a:gradFill>
                  <a:gsLst>
                    <a:gs pos="0">
                      <a:srgbClr val="E7AA51">
                        <a:alpha val="100000"/>
                      </a:srgbClr>
                    </a:gs>
                    <a:gs pos="25000">
                      <a:srgbClr val="FFE499">
                        <a:alpha val="100000"/>
                      </a:srgbClr>
                    </a:gs>
                    <a:gs pos="50000">
                      <a:srgbClr val="8D5A1B">
                        <a:alpha val="100000"/>
                      </a:srgbClr>
                    </a:gs>
                    <a:gs pos="75000">
                      <a:srgbClr val="E7AA51">
                        <a:alpha val="100000"/>
                      </a:srgbClr>
                    </a:gs>
                    <a:gs pos="100000">
                      <a:srgbClr val="AC7031">
                        <a:alpha val="100000"/>
                      </a:srgbClr>
                    </a:gs>
                  </a:gsLst>
                  <a:lin ang="540000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DIAGRAMA DE ESTADOS - CARONA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4430" y="679122"/>
            <a:ext cx="14909328" cy="9426657"/>
          </a:xfrm>
          <a:custGeom>
            <a:avLst/>
            <a:gdLst/>
            <a:ahLst/>
            <a:cxnLst/>
            <a:rect l="l" t="t" r="r" b="b"/>
            <a:pathLst>
              <a:path w="14909328" h="9426657">
                <a:moveTo>
                  <a:pt x="0" y="0"/>
                </a:moveTo>
                <a:lnTo>
                  <a:pt x="14909328" y="0"/>
                </a:lnTo>
                <a:lnTo>
                  <a:pt x="14909328" y="9426657"/>
                </a:lnTo>
                <a:lnTo>
                  <a:pt x="0" y="9426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" t="-3269" r="-28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74430" y="53319"/>
            <a:ext cx="14304699" cy="1127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240"/>
              </a:lnSpc>
            </a:pPr>
            <a:r>
              <a:rPr lang="en-US" sz="6600" b="1" i="1">
                <a:gradFill>
                  <a:gsLst>
                    <a:gs pos="0">
                      <a:srgbClr val="E7AA51">
                        <a:alpha val="100000"/>
                      </a:srgbClr>
                    </a:gs>
                    <a:gs pos="25000">
                      <a:srgbClr val="FFE499">
                        <a:alpha val="100000"/>
                      </a:srgbClr>
                    </a:gs>
                    <a:gs pos="50000">
                      <a:srgbClr val="8D5A1B">
                        <a:alpha val="100000"/>
                      </a:srgbClr>
                    </a:gs>
                    <a:gs pos="75000">
                      <a:srgbClr val="E7AA51">
                        <a:alpha val="100000"/>
                      </a:srgbClr>
                    </a:gs>
                    <a:gs pos="100000">
                      <a:srgbClr val="AC7031">
                        <a:alpha val="100000"/>
                      </a:srgbClr>
                    </a:gs>
                  </a:gsLst>
                  <a:lin ang="540000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DIAGRAMA DE ESTADO - PASSAGEIRO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019169"/>
            <a:ext cx="18288000" cy="5921181"/>
          </a:xfrm>
          <a:custGeom>
            <a:avLst/>
            <a:gdLst/>
            <a:ahLst/>
            <a:cxnLst/>
            <a:rect l="l" t="t" r="r" b="b"/>
            <a:pathLst>
              <a:path w="18288000" h="5921181">
                <a:moveTo>
                  <a:pt x="0" y="0"/>
                </a:moveTo>
                <a:lnTo>
                  <a:pt x="18288000" y="0"/>
                </a:lnTo>
                <a:lnTo>
                  <a:pt x="18288000" y="5921181"/>
                </a:lnTo>
                <a:lnTo>
                  <a:pt x="0" y="59211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79" t="-8239" r="-167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32858" y="205719"/>
            <a:ext cx="14498671" cy="1127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240"/>
              </a:lnSpc>
            </a:pPr>
            <a:r>
              <a:rPr lang="en-US" sz="6600" b="1" i="1">
                <a:gradFill>
                  <a:gsLst>
                    <a:gs pos="0">
                      <a:srgbClr val="E7AA51">
                        <a:alpha val="100000"/>
                      </a:srgbClr>
                    </a:gs>
                    <a:gs pos="25000">
                      <a:srgbClr val="FFE499">
                        <a:alpha val="100000"/>
                      </a:srgbClr>
                    </a:gs>
                    <a:gs pos="50000">
                      <a:srgbClr val="8D5A1B">
                        <a:alpha val="100000"/>
                      </a:srgbClr>
                    </a:gs>
                    <a:gs pos="75000">
                      <a:srgbClr val="E7AA51">
                        <a:alpha val="100000"/>
                      </a:srgbClr>
                    </a:gs>
                    <a:gs pos="100000">
                      <a:srgbClr val="AC7031">
                        <a:alpha val="100000"/>
                      </a:srgbClr>
                    </a:gs>
                  </a:gsLst>
                  <a:lin ang="540000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DIAGRAMA DE ESTADOS - MOTORISTA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03390" y="1028700"/>
            <a:ext cx="13220854" cy="9398421"/>
          </a:xfrm>
          <a:custGeom>
            <a:avLst/>
            <a:gdLst/>
            <a:ahLst/>
            <a:cxnLst/>
            <a:rect l="l" t="t" r="r" b="b"/>
            <a:pathLst>
              <a:path w="13220854" h="9398421">
                <a:moveTo>
                  <a:pt x="0" y="0"/>
                </a:moveTo>
                <a:lnTo>
                  <a:pt x="13220854" y="0"/>
                </a:lnTo>
                <a:lnTo>
                  <a:pt x="13220854" y="9398421"/>
                </a:lnTo>
                <a:lnTo>
                  <a:pt x="0" y="93984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941" b="-48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-99081"/>
            <a:ext cx="15570233" cy="1127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240"/>
              </a:lnSpc>
            </a:pPr>
            <a:r>
              <a:rPr lang="en-US" sz="6600" b="1" i="1">
                <a:gradFill>
                  <a:gsLst>
                    <a:gs pos="0">
                      <a:srgbClr val="E7AA51">
                        <a:alpha val="100000"/>
                      </a:srgbClr>
                    </a:gs>
                    <a:gs pos="25000">
                      <a:srgbClr val="FFE499">
                        <a:alpha val="100000"/>
                      </a:srgbClr>
                    </a:gs>
                    <a:gs pos="50000">
                      <a:srgbClr val="8D5A1B">
                        <a:alpha val="100000"/>
                      </a:srgbClr>
                    </a:gs>
                    <a:gs pos="75000">
                      <a:srgbClr val="E7AA51">
                        <a:alpha val="100000"/>
                      </a:srgbClr>
                    </a:gs>
                    <a:gs pos="100000">
                      <a:srgbClr val="AC7031">
                        <a:alpha val="100000"/>
                      </a:srgbClr>
                    </a:gs>
                  </a:gsLst>
                  <a:lin ang="540000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DIAGRAMA DE ATIVIDADES - MOTORISTA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33561" y="1044418"/>
            <a:ext cx="13420878" cy="9242582"/>
          </a:xfrm>
          <a:custGeom>
            <a:avLst/>
            <a:gdLst/>
            <a:ahLst/>
            <a:cxnLst/>
            <a:rect l="l" t="t" r="r" b="b"/>
            <a:pathLst>
              <a:path w="13420878" h="9242582">
                <a:moveTo>
                  <a:pt x="0" y="0"/>
                </a:moveTo>
                <a:lnTo>
                  <a:pt x="13420878" y="0"/>
                </a:lnTo>
                <a:lnTo>
                  <a:pt x="13420878" y="9242582"/>
                </a:lnTo>
                <a:lnTo>
                  <a:pt x="0" y="924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123" r="-1925" b="-5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31069" y="53319"/>
            <a:ext cx="15820265" cy="1127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240"/>
              </a:lnSpc>
            </a:pPr>
            <a:r>
              <a:rPr lang="en-US" sz="6600" b="1" i="1">
                <a:gradFill>
                  <a:gsLst>
                    <a:gs pos="0">
                      <a:srgbClr val="E7AA51">
                        <a:alpha val="100000"/>
                      </a:srgbClr>
                    </a:gs>
                    <a:gs pos="25000">
                      <a:srgbClr val="FFE499">
                        <a:alpha val="100000"/>
                      </a:srgbClr>
                    </a:gs>
                    <a:gs pos="50000">
                      <a:srgbClr val="8D5A1B">
                        <a:alpha val="100000"/>
                      </a:srgbClr>
                    </a:gs>
                    <a:gs pos="75000">
                      <a:srgbClr val="E7AA51">
                        <a:alpha val="100000"/>
                      </a:srgbClr>
                    </a:gs>
                    <a:gs pos="100000">
                      <a:srgbClr val="AC7031">
                        <a:alpha val="100000"/>
                      </a:srgbClr>
                    </a:gs>
                  </a:gsLst>
                  <a:lin ang="540000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DIAGRAMA DE ATIVIDADES - PASSAGERIO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02897"/>
            <a:ext cx="5066109" cy="1127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Bibliografia: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1668" y="2022162"/>
            <a:ext cx="17408897" cy="806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3143" lvl="1" indent="-496571" algn="l">
              <a:lnSpc>
                <a:spcPts val="6440"/>
              </a:lnSpc>
              <a:buFont typeface="Arial"/>
              <a:buChar char="•"/>
            </a:pPr>
            <a:r>
              <a:rPr lang="en-US" sz="4600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Pressman, Roger s. Engenharia de software: uma abordagem profissional. McGraw-Hill, 2016</a:t>
            </a:r>
          </a:p>
          <a:p>
            <a:pPr marL="993143" lvl="1" indent="-496571" algn="l">
              <a:lnSpc>
                <a:spcPts val="6440"/>
              </a:lnSpc>
              <a:buFont typeface="Arial"/>
              <a:buChar char="•"/>
            </a:pPr>
            <a:r>
              <a:rPr lang="en-US" sz="4600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Summerville, Ian. Engenharia de software. 10° ed pearson, 2019.</a:t>
            </a:r>
          </a:p>
          <a:p>
            <a:pPr marL="993143" lvl="1" indent="-496571" algn="l">
              <a:lnSpc>
                <a:spcPts val="6440"/>
              </a:lnSpc>
              <a:buFont typeface="Arial"/>
              <a:buChar char="•"/>
            </a:pPr>
            <a:r>
              <a:rPr lang="en-US" sz="4600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Larman Craig. princípios de análise e projeto de sistemas com UML 2° ed saver 2018</a:t>
            </a:r>
          </a:p>
          <a:p>
            <a:pPr marL="993143" lvl="1" indent="-496571" algn="l">
              <a:lnSpc>
                <a:spcPts val="6440"/>
              </a:lnSpc>
              <a:buFont typeface="Arial"/>
              <a:buChar char="•"/>
            </a:pPr>
            <a:r>
              <a:rPr lang="en-US" sz="4600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Bezerra, Eduardo. princípios de análise e projetos de sistema com UML. 2° Ed. Elsevier, 2018</a:t>
            </a:r>
          </a:p>
          <a:p>
            <a:pPr marL="993143" lvl="1" indent="-496571" algn="l">
              <a:lnSpc>
                <a:spcPts val="6440"/>
              </a:lnSpc>
              <a:buFont typeface="Arial"/>
              <a:buChar char="•"/>
            </a:pPr>
            <a:r>
              <a:rPr lang="en-US" sz="4600" b="1" i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Documentações oficiais: uml.org, StarUML.io,  figma.com, canva.com, powerpoint.com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59702" y="4165999"/>
            <a:ext cx="8066666" cy="2206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58"/>
              </a:lnSpc>
            </a:pPr>
            <a:r>
              <a:rPr lang="en-US" sz="12899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0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perfeito</dc:title>
  <cp:lastModifiedBy>Hiago Rocha de Jesus Perozi</cp:lastModifiedBy>
  <cp:revision>2</cp:revision>
  <dcterms:created xsi:type="dcterms:W3CDTF">2006-08-16T00:00:00Z</dcterms:created>
  <dcterms:modified xsi:type="dcterms:W3CDTF">2025-11-02T00:43:56Z</dcterms:modified>
  <dc:identifier>DAG3fW9apf8</dc:identifier>
</cp:coreProperties>
</file>